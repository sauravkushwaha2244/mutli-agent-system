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5752" cy="4114800"/>
          </a:xfrm>
          <a:prstGeom prst="roundRect">
            <a:avLst/>
          </a:prstGeom>
          <a:solidFill>
            <a:srgbClr val="1A1C20"/>
          </a:solidFill>
          <a:ln w="25400">
            <a:solidFill>
              <a:srgbClr val="FF8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8D3A"/>
                </a:solidFill>
              </a:defRPr>
            </a:pPr>
            <a:r>
              <a:t>RESEARCHMIND</a:t>
            </a:r>
          </a:p>
          <a:p>
            <a:pPr>
              <a:spcAft>
                <a:spcPts val="1400"/>
              </a:spcAft>
              <a:defRPr sz="3600" b="1">
                <a:solidFill>
                  <a:srgbClr val="F2EEE6"/>
                </a:solidFill>
              </a:defRPr>
            </a:pPr>
            <a:r>
              <a:t>Evidence-First Multi-Agent AI Research System</a:t>
            </a:r>
          </a:p>
          <a:p>
            <a:pPr>
              <a:spcAft>
                <a:spcPts val="2400"/>
              </a:spcAft>
              <a:defRPr sz="1500">
                <a:solidFill>
                  <a:srgbClr val="97918A"/>
                </a:solidFill>
              </a:defRPr>
            </a:pPr>
            <a:r>
              <a:t>Verifiable Quote Extraction · Deterministic Credibility Scoring · Claim Consensus Clustering · Interactive Visualizations</a:t>
            </a:r>
          </a:p>
          <a:p>
            <a:pPr>
              <a:defRPr sz="1300">
                <a:solidFill>
                  <a:srgbClr val="67D391"/>
                </a:solidFill>
              </a:defRPr>
            </a:pPr>
            <a:r>
              <a:t>Author: Saurav Kushwaha  |  AI &amp; Machine Learning Mini Project  |  Python 3.11+ / Flask / OpenRouter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D3A"/>
                </a:solidFill>
                <a:latin typeface="Arial"/>
              </a:defRPr>
            </a:pPr>
            <a:r>
              <a:t>01 /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2EEE6"/>
                </a:solidFill>
                <a:latin typeface="Arial"/>
              </a:defRPr>
            </a:pPr>
            <a:r>
              <a:t>The Problem: Why Traditional AI Fails at Rigorous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1. Unverified Hallucinations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LLMs generate plausible-sounding claims with made-up citations.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Monolithic models suffer from sycophancy: validating their own assumptions.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Impossible to know which sentences are grounded in real primary sources.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2. Shallow Web Scraping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Chatbots only read search snippet teasers (100–200 words).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Key data, methodology, and tables buried in article bodies are ignored.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Page clutter (ads, navigations, scripts) pollutes LLM context windows.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3. Missing Consensus &amp; Audits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Conflates consensus facts with disputed or fringe assertions.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Zero traceability: users cannot view the exact verbatim quote.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No objective metric for source domain authority or publication recency.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D3A"/>
                </a:solidFill>
                <a:latin typeface="Arial"/>
              </a:defRPr>
            </a:pPr>
            <a:r>
              <a:t>02 / KEY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2EEE6"/>
                </a:solidFill>
                <a:latin typeface="Arial"/>
              </a:defRPr>
            </a:pPr>
            <a:r>
              <a:t>How ResearchMind Differs from Regular ChatGPT / Chatbots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148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8D3A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A1C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8D3A"/>
                          </a:solidFill>
                        </a:defRPr>
                      </a:pPr>
                      <a:r>
                        <a:t>Traditional Chatbot (ChatGPT)</a:t>
                      </a:r>
                    </a:p>
                  </a:txBody>
                  <a:tcPr>
                    <a:solidFill>
                      <a:srgbClr val="1A1C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8D3A"/>
                          </a:solidFill>
                        </a:defRPr>
                      </a:pPr>
                      <a:r>
                        <a:t>ResearchMind (This Project)</a:t>
                      </a:r>
                    </a:p>
                  </a:txBody>
                  <a:tcPr>
                    <a:solidFill>
                      <a:srgbClr val="1A1C2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B15C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214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2EEE6"/>
                          </a:solidFill>
                        </a:defRPr>
                      </a:pPr>
                      <a:r>
                        <a:t>Single model, single prompt -&gt; single generation</a:t>
                      </a:r>
                    </a:p>
                  </a:txBody>
                  <a:tcPr>
                    <a:solidFill>
                      <a:srgbClr val="1214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2EEE6"/>
                          </a:solidFill>
                        </a:defRPr>
                      </a:pPr>
                      <a:r>
                        <a:t>5-stage pipeline with strict separation of concerns</a:t>
                      </a:r>
                    </a:p>
                  </a:txBody>
                  <a:tcPr>
                    <a:solidFill>
                      <a:srgbClr val="12141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B15C"/>
                          </a:solidFill>
                        </a:defRPr>
                      </a:pPr>
                      <a:r>
                        <a:t>Source Grounding</a:t>
                      </a:r>
                    </a:p>
                  </a:txBody>
                  <a:tcPr>
                    <a:solidFill>
                      <a:srgbClr val="1A1C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2EEE6"/>
                          </a:solidFill>
                        </a:defRPr>
                      </a:pPr>
                      <a:r>
                        <a:t>Shallow snippet browsing; URLs often broken</a:t>
                      </a:r>
                    </a:p>
                  </a:txBody>
                  <a:tcPr>
                    <a:solidFill>
                      <a:srgbClr val="1A1C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2EEE6"/>
                          </a:solidFill>
                        </a:defRPr>
                      </a:pPr>
                      <a:r>
                        <a:t>Trafilatura deep extraction (~2000 tokens) + URL cache</a:t>
                      </a:r>
                    </a:p>
                  </a:txBody>
                  <a:tcPr>
                    <a:solidFill>
                      <a:srgbClr val="1A1C2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B15C"/>
                          </a:solidFill>
                        </a:defRPr>
                      </a:pPr>
                      <a:r>
                        <a:t>Quote Verification</a:t>
                      </a:r>
                    </a:p>
                  </a:txBody>
                  <a:tcPr>
                    <a:solidFill>
                      <a:srgbClr val="1214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2EEE6"/>
                          </a:solidFill>
                        </a:defRPr>
                      </a:pPr>
                      <a:r>
                        <a:t>None: LLM freely paraphrases or invents quotes</a:t>
                      </a:r>
                    </a:p>
                  </a:txBody>
                  <a:tcPr>
                    <a:solidFill>
                      <a:srgbClr val="1214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2EEE6"/>
                          </a:solidFill>
                        </a:defRPr>
                      </a:pPr>
                      <a:r>
                        <a:t>Deterministic code check: drops quote if not in raw page</a:t>
                      </a:r>
                    </a:p>
                  </a:txBody>
                  <a:tcPr>
                    <a:solidFill>
                      <a:srgbClr val="12141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B15C"/>
                          </a:solidFill>
                        </a:defRPr>
                      </a:pPr>
                      <a:r>
                        <a:t>Fact Clustering</a:t>
                      </a:r>
                    </a:p>
                  </a:txBody>
                  <a:tcPr>
                    <a:solidFill>
                      <a:srgbClr val="1A1C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2EEE6"/>
                          </a:solidFill>
                        </a:defRPr>
                      </a:pPr>
                      <a:r>
                        <a:t>Blends contradictions into a single narrative</a:t>
                      </a:r>
                    </a:p>
                  </a:txBody>
                  <a:tcPr>
                    <a:solidFill>
                      <a:srgbClr val="1A1C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2EEE6"/>
                          </a:solidFill>
                        </a:defRPr>
                      </a:pPr>
                      <a:r>
                        <a:t>Explicitly categorizes AGREE, DISPUTED, SINGLE_SOURCE</a:t>
                      </a:r>
                    </a:p>
                  </a:txBody>
                  <a:tcPr>
                    <a:solidFill>
                      <a:srgbClr val="1A1C2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B15C"/>
                          </a:solidFill>
                        </a:defRPr>
                      </a:pPr>
                      <a:r>
                        <a:t>Visual &amp; Audit</a:t>
                      </a:r>
                    </a:p>
                  </a:txBody>
                  <a:tcPr>
                    <a:solidFill>
                      <a:srgbClr val="1214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2EEE6"/>
                          </a:solidFill>
                        </a:defRPr>
                      </a:pPr>
                      <a:r>
                        <a:t>Pure conversational prose; no audit trail</a:t>
                      </a:r>
                    </a:p>
                  </a:txBody>
                  <a:tcPr>
                    <a:solidFill>
                      <a:srgbClr val="1214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2EEE6"/>
                          </a:solidFill>
                        </a:defRPr>
                      </a:pPr>
                      <a:r>
                        <a:t>Interactive Plotly charts, Mermaid map &amp; raw quote drawer</a:t>
                      </a:r>
                    </a:p>
                  </a:txBody>
                  <a:tcPr>
                    <a:solidFill>
                      <a:srgbClr val="1214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D3A"/>
                </a:solidFill>
                <a:latin typeface="Arial"/>
              </a:defRPr>
            </a:pPr>
            <a:r>
              <a:t>03 /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2EEE6"/>
                </a:solidFill>
                <a:latin typeface="Arial"/>
              </a:defRPr>
            </a:pPr>
            <a:r>
              <a:t>The 5-Stage Reduced, Evidence-First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A1C20"/>
          </a:solidFill>
          <a:ln w="19050">
            <a:solidFill>
              <a:srgbClr val="67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B15C"/>
                </a:solidFill>
              </a:defRPr>
            </a:pPr>
            <a:r>
              <a:t>1. Search &amp; Read  [Code Only (No LLM)]</a:t>
            </a:r>
          </a:p>
          <a:p>
            <a:pPr>
              <a:defRPr sz="1200">
                <a:solidFill>
                  <a:srgbClr val="F2EEE6"/>
                </a:solidFill>
              </a:defRPr>
            </a:pPr>
            <a:r>
              <a:t>2-3 parallel query variants, Trafilatura deep extraction, rule-based credibility scoring.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42032"/>
            <a:ext cx="10698480" cy="777240"/>
          </a:xfrm>
          <a:prstGeom prst="roundRect">
            <a:avLst/>
          </a:prstGeom>
          <a:solidFill>
            <a:srgbClr val="1A1C20"/>
          </a:solidFill>
          <a:ln w="1905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B15C"/>
                </a:solidFill>
              </a:defRPr>
            </a:pPr>
            <a:r>
              <a:t>2. Extract Claims  [Cheap LLM + Code Check]</a:t>
            </a:r>
          </a:p>
          <a:p>
            <a:pPr>
              <a:defRPr sz="1200">
                <a:solidFill>
                  <a:srgbClr val="F2EEE6"/>
                </a:solidFill>
              </a:defRPr>
            </a:pPr>
            <a:r>
              <a:t>Extracts verbatim quotes. Strictly drops claims if quote is not an exact substring.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38144"/>
            <a:ext cx="10698480" cy="777240"/>
          </a:xfrm>
          <a:prstGeom prst="roundRect">
            <a:avLst/>
          </a:prstGeom>
          <a:solidFill>
            <a:srgbClr val="1A1C20"/>
          </a:solidFill>
          <a:ln w="1905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11296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B15C"/>
                </a:solidFill>
              </a:defRPr>
            </a:pPr>
            <a:r>
              <a:t>3. Analyze &amp; Cluster  [Cheap LLM]</a:t>
            </a:r>
          </a:p>
          <a:p>
            <a:pPr>
              <a:defRPr sz="1200">
                <a:solidFill>
                  <a:srgbClr val="F2EEE6"/>
                </a:solidFill>
              </a:defRPr>
            </a:pPr>
            <a:r>
              <a:t>Clusters claims by underlying fact. Labels: AGREE, DISPUTED, or SINGLE_SOURCE.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34256"/>
            <a:ext cx="10698480" cy="777240"/>
          </a:xfrm>
          <a:prstGeom prst="roundRect">
            <a:avLst/>
          </a:prstGeom>
          <a:solidFill>
            <a:srgbClr val="1A1C20"/>
          </a:solidFill>
          <a:ln w="19050">
            <a:solidFill>
              <a:srgbClr val="FF8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B15C"/>
                </a:solidFill>
              </a:defRPr>
            </a:pPr>
            <a:r>
              <a:t>4. Synthesize Report  [Strong LLM]</a:t>
            </a:r>
          </a:p>
          <a:p>
            <a:pPr>
              <a:defRPr sz="1200">
                <a:solidFill>
                  <a:srgbClr val="F2EEE6"/>
                </a:solidFill>
              </a:defRPr>
            </a:pPr>
            <a:r>
              <a:t>Structured synthesis (Summary, Supported, Disputed, Weak). Mandatory [sN] markers.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30368"/>
            <a:ext cx="10698480" cy="777240"/>
          </a:xfrm>
          <a:prstGeom prst="roundRect">
            <a:avLst/>
          </a:prstGeom>
          <a:solidFill>
            <a:srgbClr val="1A1C20"/>
          </a:solidFill>
          <a:ln w="19050">
            <a:solidFill>
              <a:srgbClr val="67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B15C"/>
                </a:solidFill>
              </a:defRPr>
            </a:pPr>
            <a:r>
              <a:t>5. Visualize  [Code Only (Parallel)]</a:t>
            </a:r>
          </a:p>
          <a:p>
            <a:pPr>
              <a:defRPr sz="1200">
                <a:solidFill>
                  <a:srgbClr val="F2EEE6"/>
                </a:solidFill>
              </a:defRPr>
            </a:pPr>
            <a:r>
              <a:t>Plotly agreement chart, source credibility bars, and Mermaid dispute conflict 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D3A"/>
                </a:solidFill>
                <a:latin typeface="Arial"/>
              </a:defRPr>
            </a:pPr>
            <a:r>
              <a:t>04 / DEEP DIVE — 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2EEE6"/>
                </a:solidFill>
                <a:latin typeface="Arial"/>
              </a:defRPr>
            </a:pPr>
            <a:r>
              <a:t>Search &amp; Read: Deterministic Evidence Ingestion (No LLM)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Parallel Search &amp; Disk Cache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Generates 2–3 deterministic query variants to cover factual and debate angles.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Queries Tavily API or OpenRouter Perplexity Sonar in parallel via ThreadPoolExecutor.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Deduplicates URLs across all search variants.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SQLite-backed persistent disk cache (.cache/pipeline_cache.db) prevents duplicate network calls.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Cached searches have 24-hour TTL, page scrapes have 48-hour TTL.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Trafilatura Scraping &amp; Credibility Scoring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Trafilatura extracts clean main-body text, stripping ads, headers, nav, and scripts.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Secondary fallback to BeautifulSoup if Trafilatura returns empty.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Snippet fallback with low-confidence flag if page blocks scraping.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Deterministic Credibility Rules (0.10 to 1.00):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.gov / .mil domains: +0.35 (high authority)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.edu / .ac.uk academic domains: +0.30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Peer-reviewed outlets (Nature, Science, Reuters, IEEE): +0.25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Social media / forums (Reddit, Medium, Quora): -0.25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Publication recency: recent (&lt;1 yr) +0.10, older (-0.10).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D3A"/>
                </a:solidFill>
                <a:latin typeface="Arial"/>
              </a:defRPr>
            </a:pPr>
            <a:r>
              <a:t>05 / DEEP DIVE — 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2EEE6"/>
                </a:solidFill>
                <a:latin typeface="Arial"/>
              </a:defRPr>
            </a:pPr>
            <a:r>
              <a:t>Claim Extraction: Non-Negotiable Verbatim Quote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Cheap LLM Extraction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Uses ultra-fast, cost-effective model (google/gemini-2.5-flash).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Strictly requests JSON output with two fields: 'text' (claim) and 'quote' (verbatim excerpt).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Input text capped to 2,500 chars to minimize token consumption.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Extracts 2 to 3 atomic factual assertions per page.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No provenance metadata is trusted from the LLM.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Deterministic Code Verification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verify_quote(quote, page_text):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Normalizes whitespace and casing.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Checks character-for-character substring containment.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Enforces minimum quote length (&gt;= 12 characters).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CRITICAL SAFEGUARD: If the quote is not in the scraped page text, the claim is IMMEDIATELY DROPPED.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Code sets all metadata: source_id, source_name, url, published date, credibility score.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Completely eliminates LLM-fabricated citations.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D3A"/>
                </a:solidFill>
                <a:latin typeface="Arial"/>
              </a:defRPr>
            </a:pPr>
            <a:r>
              <a:t>06 / DEEP DIVE — STAGES 3 &amp;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2EEE6"/>
                </a:solidFill>
                <a:latin typeface="Arial"/>
              </a:defRPr>
            </a:pPr>
            <a:r>
              <a:t>Fact Clustering &amp; Structured Synthesis with Citation Sanitizer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Stage 3: Consensus Clustering (Cheap LLM)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One LLM call groups claims by the underlying fact.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Labels each cluster: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AGREE: Corroborated by 2+ independent sources.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DISPUTED: Contradictory claims across sources.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SINGLE_SOURCE: Reported by only one source.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STRICT CONSTRAINT: Returns claim IDs only. The model is forbidden from introducing new facts.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Code maps IDs back to validated claim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Stage 4: Strong Model Synthesis + Sanitizer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Synthesizes report using openai/gpt-4o-mini with 4 mandatory sections: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1. Summary (High-level synthesis)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2. Well Supported (AGREE consensus facts)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3. Disputed (Opposing viewpoints &amp; conflicts)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4. Weak Evidence (Single-source assertions)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MANDATORY RULE: Every sentence ends with [sN] markers.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Python Citation Sanitizer: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Validates markers against registered source IDs.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Rejects &amp; strips ungrounded markers (e.g. [s99]).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Converts valid markers into clickable source links.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D3A"/>
                </a:solidFill>
                <a:latin typeface="Arial"/>
              </a:defRPr>
            </a:pPr>
            <a:r>
              <a:t>07 / DEEP DIVE — STAGE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2EEE6"/>
                </a:solidFill>
                <a:latin typeface="Arial"/>
              </a:defRPr>
            </a:pPr>
            <a:r>
              <a:t>Interactive Evidence Visualizations (Zero-Latency Parallel Execution)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1. Consensus Donut Chart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Powered by Plotly.js.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Visualizes the ratio of Well Supported vs. Disputed vs. Single Source claims.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Dark-theme styled with color coding: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Green: AGREE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Red: DISPUTED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Orange: SINGLE_SOURCE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Interactive hover percentages.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2. Source Credibility Bars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Ranked horizontal Plotly bar chart.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Displays calculated rule-based credibility score (0.10 to 1.00) for every source.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Color-coded by confidence tier (High &gt;= 0.75, Medium 0.50–0.74, Low &lt; 0.50).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Hover tooltips display direct source URLs.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3. Mermaid Conflict Map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Flowchart mapping conflicting claims and opposing sources.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Visualizes disputed facts, opposing statements, and source attribution.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DATA RULE: Hidden automatically if no disputed claims exist in the run.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Rendered client-side via Mermaid.js.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D3A"/>
                </a:solidFill>
                <a:latin typeface="Arial"/>
              </a:defRPr>
            </a:pPr>
            <a:r>
              <a:t>08 / PERFORMANCE &amp;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2EEE6"/>
                </a:solidFill>
                <a:latin typeface="Arial"/>
              </a:defRPr>
            </a:pPr>
            <a:r>
              <a:t>Token Optimization: Two-Tier OpenRouter Model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Two-Tier Model Routing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Cheap Model (Stages 2 &amp; 3):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Uses google/gemini-2.5-flash via OpenRouter.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Handles high-volume extraction and clustering.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Fast execution (~1-2 seconds per page).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Strong Model (Stage 4):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Uses openai/gpt-4o-mini for structured synthesis.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Replaced heavy gpt-4o, reducing token costs by ~95% while preserving synthesis quality.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Max token budget capped at 1,000 tokens.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Strict Token Budgets &amp; Caching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Context Truncation: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Scraped input capped to 2,500 chars (down from 6,000).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Reduces input token consumption by &gt;55%.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Search Query Capping: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Perplexity Sonar search capped at 500 max_tokens.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Cache Savings: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Repeat queries and URLs served instantly from SQLite cache with zero token consumption.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Total Pipeline Cost: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Typically &lt; $0.005 per complete research brief.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D3A"/>
                </a:solidFill>
                <a:latin typeface="Arial"/>
              </a:defRPr>
            </a:pPr>
            <a:r>
              <a:t>09 / ENGINEERING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2EEE6"/>
                </a:solidFill>
                <a:latin typeface="Arial"/>
              </a:defRPr>
            </a:pPr>
            <a:r>
              <a:t>Testing &amp; Verification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18 Automated Unit Tests (0.2s)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test_exact_quote_passes: Verifies character matches.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test_whitespace_normalized_quote: Verifies whitespace tolerance.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test_hallucinated_quote_rejected: Verifies dropped fake quotes.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test_partially_altered_quote_rejected: Catches altered stats/dates.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test_valid_marker_converted: Tests [s1] -&gt; clickable Markdown links.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test_unregistered_marker_rejected: Confirms [s99] is stripped.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test_credibility_rules: Tests .gov (+0.35), .edu (+0.30), social (-0.25).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test_conflict_map_hidden: Confirms map is hidden when no disputes exist.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Pipeline Resilience &amp; Hooks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Network Timeouts on Every Call: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12-second timeout on Trafilatura scraping.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15-second timeout on search API calls.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Multi-Tier Scraping Fallbacks: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Trafilatura -&gt; BeautifulSoup -&gt; Search Snippet.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Extensibility Hooks (PipelineHook):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on_claims_extracted(): Hook for fact-checking plugins.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  • on_report_written(): Clean extension point to re-attach an adversarial Critic agent in the future without breaking changes.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D3A"/>
                </a:solidFill>
                <a:latin typeface="Arial"/>
              </a:defRPr>
            </a:pPr>
            <a:r>
              <a:t>10 / 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2EEE6"/>
                </a:solidFill>
                <a:latin typeface="Arial"/>
              </a:defRPr>
            </a:pPr>
            <a:r>
              <a:t>Complete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Core Backend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Python 3.11+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Flask 3.0 (Web Server &amp; SSE)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SQLite (Disk Cache)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ThreadPoolExecutor (Parallelism)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LLM &amp; Search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OpenRouter API Gateway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Perplexity Sonar (Live Web Search)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Google Gemini 2.5 Flash (Cheap LLM)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OpenAI GPT-4o-mini (Strong LLM)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Extraction &amp; Parsing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Trafilatura (Deep Body Extractor)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BeautifulSoup4 (DOM Sanitizer)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python-dotenv (Secure Configuration)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LangChain Core &amp; OpenAI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Frontend &amp; Visuals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Server-Sent Events (Real-Time SSE)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Plotly.js (Interactive Charts)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Mermaid.js (Conflict Diagrams)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Vanilla JS, CSS3, HTML5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D3A"/>
                </a:solidFill>
                <a:latin typeface="Arial"/>
              </a:defRPr>
            </a:pPr>
            <a:r>
              <a:t>11 /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2EEE6"/>
                </a:solidFill>
                <a:latin typeface="Arial"/>
              </a:defRPr>
            </a:pPr>
            <a:r>
              <a:t>Project Summary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Key Project Achievements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Reduced 5-stage pipeline replacing brittle agent prompt loops with verifiable code.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100% Quote Verifiability: Eliminates LLM source hallucinations.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Objective Credibility Scoring: Evaluates source authority deterministically.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Interactive Visualizations: Plotly consensus charts &amp; Mermaid conflict maps.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Complete Evidence Audit: Transparent review of raw quotes and scores.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Optimized Cost: Two-tier routing delivers rigorous briefs for &lt; $0.005.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A1C20"/>
          </a:solidFill>
          <a:ln w="12700">
            <a:solidFill>
              <a:srgbClr val="62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15C"/>
                </a:solidFill>
                <a:latin typeface="Arial"/>
              </a:defRPr>
            </a:pPr>
            <a:r>
              <a:t>Future Enhancements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1. Multi-Format Export: Add PDF and Word (.docx) export options.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2. Domain Whitelist Expansion: Institutional database integrations (PubMed, IEEE Xplore).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3. Local Model Support: Add Ollama integration for 100% offline private execution.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4. Adversarial Critic Extension: Re-attach the Critic agent via the new PipelineHook.</a:t>
            </a:r>
          </a:p>
          <a:p>
            <a:pPr>
              <a:spcAft>
                <a:spcPts val="600"/>
              </a:spcAft>
              <a:defRPr sz="1300">
                <a:solidFill>
                  <a:srgbClr val="F2EEE6"/>
                </a:solidFill>
                <a:latin typeface="Arial"/>
              </a:defRPr>
            </a:pPr>
            <a:r>
              <a:t>•  5. Automated Claim Verification Benchmark: Compare precision vs. standard RAG.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